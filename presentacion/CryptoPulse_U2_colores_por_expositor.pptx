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dfd5222-0257-f705-ca6d-746fc4cc365b}">
          <p14:sldIdLst>
            <p14:sldId id="256"/>
            <p14:sldId id="257"/>
            <p14:sldId id="258"/>
            <p14:sldId id="259"/>
          </p14:sldIdLst>
        </p14:section>
        <p14:section name="Julmer · S6 a S8" id="{2de8030d-8ae7-c57d-c083-7b720fee287d}">
          <p14:sldIdLst>
            <p14:sldId id="260"/>
            <p14:sldId id="261"/>
            <p14:sldId id="262"/>
            <p14:sldId id="263"/>
            <p14:sldId id="264"/>
          </p14:sldIdLst>
        </p14:section>
        <p14:section name="Abdul · S9" id="{423c1c66-6ea6-6393-f57a-8d2977c58568}">
          <p14:sldIdLst>
            <p14:sldId id="265"/>
            <p14:sldId id="266"/>
            <p14:sldId id="267"/>
            <p14:sldId id="268"/>
          </p14:sldIdLst>
        </p14:section>
        <p14:section name="Franck · S10" id="{7a7499a4-53dd-3493-4c07-12dc1c31489f}">
          <p14:sldIdLst>
            <p14:sldId id="269"/>
            <p14:sldId id="270"/>
            <p14:sldId id="271"/>
          </p14:sldIdLst>
        </p14:section>
        <p14:section name="Luz Milagros · S11 y S12" id="{dd2d6629-3d5a-0dbe-eaf5-42696d51661b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CF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E8ECF8"/>
                </a:solidFill>
                <a:latin typeface="+mn-lt"/>
              </a:rPr>
              <a:t>Error absoluto medio (MAE): menos es mejor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8EC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BTC en vivo</c:v>
                  </c:pt>
                  <c:pt idx="1">
                    <c:v>SOL en vivo</c:v>
                  </c:pt>
                  <c:pt idx="2">
                    <c:v>Prueba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0.084</c:v>
                </c:pt>
                <c:pt idx="2">
                  <c:v>0.079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Referencia</c:v>
                </c:pt>
              </c:strCache>
            </c:strRef>
          </c:tx>
          <c:spPr>
            <a:solidFill>
              <a:srgbClr val="A3AEC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8EC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BTC en vivo</c:v>
                  </c:pt>
                  <c:pt idx="1">
                    <c:v>SOL en vivo</c:v>
                  </c:pt>
                  <c:pt idx="2">
                    <c:v>Prueba 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0.089</c:v>
                </c:pt>
                <c:pt idx="1">
                  <c:v>0.108</c:v>
                </c:pt>
                <c:pt idx="2">
                  <c:v>0.085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E8EC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8EC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E8ECF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 abre. Presenta al equipo y explica que el color indica quién expone.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plantea la pregunta central y las cuatro dimensiones.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pitch de evolución desde U1, antes de la demo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recorre el flujo de izquierda a derecha y da paso a Julmer.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abre un mensaje en Kafka UI y muestra el contrato. Criterio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explica la analogía con un sensor. La guía admite telemetría. Criterio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explica cada consulta y qué comprueban las pruebas. Criterio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conecta la ingesta con el valor para el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sustenta su dimensión y su límite real. Sirve para priorizar revisión. Criterio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muestra destinos y alertas en Prometheus. Criterio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explica cómo leer las métricas juntas para ubicar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el costo parte de recursos y volumen medidos. Criterio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sustenta su dimensión y su límite. La muestra es corta y es lo primero a vigilar.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explica la inferencia en streaming y por qué no hay fuga de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señala pronóstico, observado y realidad futura. La realidad aparece 15 minutos después. Criterio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muestra la validación en prueba y en vivo. Cifras del 30 de octubre, 15:07 a 18:34 UTC.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muestra el tablero en vivo. Criterio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sustenta su dimensión y la decisión de reformularla.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 y Franck: Franck integró y publicó el pipeline. Si hay tiempo, ejecutar la prueba de recuperación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recorre la rúbrica. No se autoasigna calificación: la pone el jurado.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equipo. Cada integrante responde sobre su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LM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EXPONE: JULMER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LAGROS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EXPONE: LUZ MILAGROS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DUL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EXPONE: ABDUL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NC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6172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EXPONE: FRANCK</a:t>
            </a:r>
            <a:endParaRPr lang="en-US" sz="13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CryptoPulse en tiempo real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Producto de Unidad 2 · Big Data · UPeU 2026-2 · Grupo 3</a:t>
            </a:r>
            <a:endParaRPr lang="en-US" sz="2000" dirty="0"/>
          </a:p>
        </p:txBody>
      </p:sp>
      <p:sp>
        <p:nvSpPr>
          <p:cNvPr id="4" name="Responsable Luz Milagros Huanca"/>
          <p:cNvSpPr txBox="1"/>
          <p:nvPr/>
        </p:nvSpPr>
        <p:spPr>
          <a:xfrm>
            <a:off x="640080" y="39319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accent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Luz Milagros Huanca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Apertura, S11 y S12</a:t>
            </a:r>
            <a:endParaRPr lang="en-US" sz="1700" dirty="0"/>
          </a:p>
        </p:txBody>
      </p:sp>
      <p:sp>
        <p:nvSpPr>
          <p:cNvPr id="5" name="Responsable Julmer Quispe"/>
          <p:cNvSpPr txBox="1"/>
          <p:nvPr/>
        </p:nvSpPr>
        <p:spPr>
          <a:xfrm>
            <a:off x="3410712" y="39319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Julmer Quispe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S6, S7 y S8</a:t>
            </a:r>
            <a:endParaRPr lang="en-US" sz="1700" dirty="0"/>
          </a:p>
        </p:txBody>
      </p:sp>
      <p:sp>
        <p:nvSpPr>
          <p:cNvPr id="6" name="Responsable Abdul Quispe"/>
          <p:cNvSpPr txBox="1"/>
          <p:nvPr/>
        </p:nvSpPr>
        <p:spPr>
          <a:xfrm>
            <a:off x="6181344" y="39319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Abdul Quispe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S9</a:t>
            </a:r>
            <a:endParaRPr lang="en-US" sz="1700" dirty="0"/>
          </a:p>
        </p:txBody>
      </p:sp>
      <p:sp>
        <p:nvSpPr>
          <p:cNvPr id="7" name="Responsable Franck Coaquira"/>
          <p:cNvSpPr txBox="1"/>
          <p:nvPr/>
        </p:nvSpPr>
        <p:spPr>
          <a:xfrm>
            <a:off x="8951976" y="39319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Franck Coaquira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S10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El color de cada diapositiva indica quién expone esa parte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 el riesgo, no solo verlo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BTC y SOL se mueven en minutos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 analista necesita señales con 5 a 30 minutos de antelación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54864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puede un analista de riesgo anticipar, con 5 a 30 minutos de antelación, volatilidad alta, caídas fuertes, actividad anómala y desacople entre BTC y SOL?</a:t>
            </a:r>
            <a:endParaRPr lang="en-US" sz="2400" dirty="0"/>
          </a:p>
        </p:txBody>
      </p:sp>
      <p:sp>
        <p:nvSpPr>
          <p:cNvPr id="7" name="Dimensión Volatilidad"/>
          <p:cNvSpPr txBox="1"/>
          <p:nvPr/>
        </p:nvSpPr>
        <p:spPr>
          <a:xfrm>
            <a:off x="4114800" y="2788920"/>
            <a:ext cx="3703320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Volatilidad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15 min · Franck</a:t>
            </a:r>
            <a:endParaRPr lang="en-US" sz="1900" dirty="0"/>
          </a:p>
        </p:txBody>
      </p:sp>
      <p:sp>
        <p:nvSpPr>
          <p:cNvPr id="8" name="Dimensión Caída fuerte"/>
          <p:cNvSpPr txBox="1"/>
          <p:nvPr/>
        </p:nvSpPr>
        <p:spPr>
          <a:xfrm>
            <a:off x="8001000" y="2788920"/>
            <a:ext cx="37033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Caída fuerte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30 min · Julmer</a:t>
            </a:r>
            <a:endParaRPr lang="en-US" sz="1900" dirty="0"/>
          </a:p>
        </p:txBody>
      </p:sp>
      <p:sp>
        <p:nvSpPr>
          <p:cNvPr id="9" name="Dimensión Actividad anómala"/>
          <p:cNvSpPr txBox="1"/>
          <p:nvPr/>
        </p:nvSpPr>
        <p:spPr>
          <a:xfrm>
            <a:off x="4114800" y="4343400"/>
            <a:ext cx="3703320" cy="13716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Actividad anómala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 min · Abdul</a:t>
            </a:r>
            <a:endParaRPr lang="en-US" sz="1900" dirty="0"/>
          </a:p>
        </p:txBody>
      </p:sp>
      <p:sp>
        <p:nvSpPr>
          <p:cNvPr id="10" name="Dimensión Separación BTC–SOL"/>
          <p:cNvSpPr txBox="1"/>
          <p:nvPr/>
        </p:nvSpPr>
        <p:spPr>
          <a:xfrm>
            <a:off x="8001000" y="4343400"/>
            <a:ext cx="370332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Separación BTC–SOL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15 min · Milagros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 U1 A U2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histórico a un pipeline vivo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Los modelos de U1 ahora trabajan en vivo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pronóstico se compara después con lo que ocurrió</a:t>
            </a:r>
            <a:endParaRPr lang="en-US" sz="1500" dirty="0"/>
          </a:p>
        </p:txBody>
      </p:sp>
      <p:graphicFrame>
        <p:nvGraphicFramePr>
          <p:cNvPr id="4" name="Tabla U1 U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7589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20040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Unidad 1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Unidad 2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Datos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4 993 757 velas históricas validadas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Operaciones y velas en vivo desde Binance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Proceso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Batch con PySpark y Parquet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Spark Structured Streaming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Modelos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Entrenados y comparados con historia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Aplicados cada minuto y evaluados al madurar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Salida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Notebooks por integrante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Tablero Grafana en vivo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ARQUITECTURA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pipeline, de la fuente al tablero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Dos flujos reales entran al mismo Kafka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Spark procesa y guarda en PostgreSQL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Prometheus vigila; Grafana muestra todo</a:t>
            </a:r>
            <a:endParaRPr lang="en-US" sz="1500" dirty="0"/>
          </a:p>
        </p:txBody>
      </p:sp>
      <p:sp>
        <p:nvSpPr>
          <p:cNvPr id="6" name="Binance WebSocket y REST"/>
          <p:cNvSpPr txBox="1"/>
          <p:nvPr/>
        </p:nvSpPr>
        <p:spPr>
          <a:xfrm>
            <a:off x="4069080" y="246888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Binance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WebSocket y REST</a:t>
            </a:r>
            <a:endParaRPr lang="en-US" sz="1500" dirty="0"/>
          </a:p>
        </p:txBody>
      </p:sp>
      <p:sp>
        <p:nvSpPr>
          <p:cNvPr id="7" name="Kafka market.trades"/>
          <p:cNvSpPr txBox="1"/>
          <p:nvPr/>
        </p:nvSpPr>
        <p:spPr>
          <a:xfrm>
            <a:off x="6035040" y="118872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Kafka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market.trades</a:t>
            </a:r>
            <a:endParaRPr lang="en-US" sz="1500" dirty="0"/>
          </a:p>
        </p:txBody>
      </p:sp>
      <p:sp>
        <p:nvSpPr>
          <p:cNvPr id="8" name="Kafka market.klines"/>
          <p:cNvSpPr txBox="1"/>
          <p:nvPr/>
        </p:nvSpPr>
        <p:spPr>
          <a:xfrm>
            <a:off x="6035040" y="374904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Kafka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market.klines</a:t>
            </a:r>
            <a:endParaRPr lang="en-US" sz="1500" dirty="0"/>
          </a:p>
        </p:txBody>
      </p:sp>
      <p:sp>
        <p:nvSpPr>
          <p:cNvPr id="9" name="Spark 4 consultas"/>
          <p:cNvSpPr txBox="1"/>
          <p:nvPr/>
        </p:nvSpPr>
        <p:spPr>
          <a:xfrm>
            <a:off x="8001000" y="246888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Spark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consultas</a:t>
            </a:r>
            <a:endParaRPr lang="en-US" sz="1500" dirty="0"/>
          </a:p>
        </p:txBody>
      </p:sp>
      <p:sp>
        <p:nvSpPr>
          <p:cNvPr id="10" name="PostgreSQL"/>
          <p:cNvSpPr txBox="1"/>
          <p:nvPr/>
        </p:nvSpPr>
        <p:spPr>
          <a:xfrm>
            <a:off x="9966960" y="118872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1" name="Grafana"/>
          <p:cNvSpPr txBox="1"/>
          <p:nvPr/>
        </p:nvSpPr>
        <p:spPr>
          <a:xfrm>
            <a:off x="9966960" y="24688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Grafana</a:t>
            </a:r>
            <a:endParaRPr lang="en-US" sz="1500" dirty="0"/>
          </a:p>
        </p:txBody>
      </p:sp>
      <p:sp>
        <p:nvSpPr>
          <p:cNvPr id="12" name="Prometheus"/>
          <p:cNvSpPr txBox="1"/>
          <p:nvPr/>
        </p:nvSpPr>
        <p:spPr>
          <a:xfrm>
            <a:off x="9966960" y="374904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Prometheus</a:t>
            </a:r>
            <a:endParaRPr lang="en-US" sz="1500" dirty="0"/>
          </a:p>
        </p:txBody>
      </p:sp>
      <p:sp>
        <p:nvSpPr>
          <p:cNvPr id="13" name="Flecha"/>
          <p:cNvSpPr/>
          <p:nvPr/>
        </p:nvSpPr>
        <p:spPr>
          <a:xfrm flipV="1">
            <a:off x="5669280" y="2057400"/>
            <a:ext cx="365760" cy="82296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4" name="Flecha"/>
          <p:cNvSpPr/>
          <p:nvPr/>
        </p:nvSpPr>
        <p:spPr>
          <a:xfrm>
            <a:off x="5669280" y="2926080"/>
            <a:ext cx="365760" cy="123444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5" name="Flecha"/>
          <p:cNvSpPr/>
          <p:nvPr/>
        </p:nvSpPr>
        <p:spPr>
          <a:xfrm>
            <a:off x="7635240" y="1645920"/>
            <a:ext cx="365760" cy="109728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6" name="Flecha"/>
          <p:cNvSpPr/>
          <p:nvPr/>
        </p:nvSpPr>
        <p:spPr>
          <a:xfrm flipV="1">
            <a:off x="7635240" y="3108960"/>
            <a:ext cx="365760" cy="105156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7" name="Flecha"/>
          <p:cNvSpPr/>
          <p:nvPr/>
        </p:nvSpPr>
        <p:spPr>
          <a:xfrm flipV="1">
            <a:off x="9601200" y="1645920"/>
            <a:ext cx="365760" cy="109728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8" name="Flecha"/>
          <p:cNvSpPr/>
          <p:nvPr/>
        </p:nvSpPr>
        <p:spPr>
          <a:xfrm>
            <a:off x="9601200" y="3108960"/>
            <a:ext cx="365760" cy="105156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9" name="Flecha"/>
          <p:cNvSpPr/>
          <p:nvPr/>
        </p:nvSpPr>
        <p:spPr>
          <a:xfrm>
            <a:off x="10853928" y="2057400"/>
            <a:ext cx="0" cy="41148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0" name="Flecha"/>
          <p:cNvSpPr/>
          <p:nvPr/>
        </p:nvSpPr>
        <p:spPr>
          <a:xfrm flipV="1">
            <a:off x="10853928" y="3337560"/>
            <a:ext cx="0" cy="41148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114800" y="5120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Azul: Julmer · Celeste: Abdul · Rosa: Milagros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S6 · KAFKA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empresariales en vivo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operación ejecutada es un evento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Tópicos market.trades.btcusdt y .solusdt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Contrato market-trade-v1 versionado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237 471 operaciones procesadas</a:t>
            </a:r>
            <a:endParaRPr lang="en-US" sz="1500" dirty="0"/>
          </a:p>
        </p:txBody>
      </p:sp>
      <p:pic>
        <p:nvPicPr>
          <p:cNvPr id="6" name="Mensajes de operaciones en Kafka UI" descr="Mensajes de operaciones en Kafka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85800"/>
            <a:ext cx="7772400" cy="4663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Mensajes reales en Kafka UI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S7 · TELEMETRÍA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Velas como telemetría del mercado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Lectura periódica, como un sensor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 mensajes por minuto, datos reales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61/61 velas, 0 faltantes, 0 rechazados</a:t>
            </a:r>
            <a:endParaRPr lang="en-US" sz="1500" dirty="0"/>
          </a:p>
        </p:txBody>
      </p:sp>
      <p:pic>
        <p:nvPicPr>
          <p:cNvPr id="6" name="Mensajes de velas en Kafka UI" descr="Mensajes de velas en Kafka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65760"/>
            <a:ext cx="5394960" cy="3236976"/>
          </a:xfrm>
          <a:prstGeom prst="rect">
            <a:avLst/>
          </a:prstGeom>
        </p:spPr>
      </p:pic>
      <p:pic>
        <p:nvPicPr>
          <p:cNvPr id="7" name="Frescura y continuidad por activo" descr="Frescura y continuidad por ac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749040"/>
            <a:ext cx="5852160" cy="7040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S8 · SPARK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Ventanas, watermark y checkpoints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4 consultas con checkpoint propio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Deduplicación por event_id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Duplicado: cuenta una vez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Tardío: se descarta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Reinicio: continúa</a:t>
            </a:r>
            <a:endParaRPr lang="en-US" sz="1500" dirty="0"/>
          </a:p>
        </p:txBody>
      </p:sp>
      <p:graphicFrame>
        <p:nvGraphicFramePr>
          <p:cNvPr id="8" name="Consultas Spar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457200"/>
          <a:ext cx="7589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Consulta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Ventana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Watermark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Archivo e inferencia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Micro-lote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No aplica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Ventana fija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5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2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Ventana deslizante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5 min, paso 1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2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Flujo de operaciones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1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1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Ventanas finalizadas" descr="Ventanas finaliz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606040"/>
            <a:ext cx="7437730" cy="13132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S8 · RESULTADO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evento al valor de negocio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Compras menos ventas por minuto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Muestra quién domina el mercado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 cae el productor, recupera por REST</a:t>
            </a:r>
            <a:endParaRPr lang="en-US" sz="1500" dirty="0"/>
          </a:p>
        </p:txBody>
      </p:sp>
      <p:pic>
        <p:nvPicPr>
          <p:cNvPr id="6" name="Flujo neto comprador menos vendedor" descr="Flujo neto comprador menos vende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7772400" cy="3157538"/>
          </a:xfrm>
          <a:prstGeom prst="rect">
            <a:avLst/>
          </a:prstGeom>
        </p:spPr>
      </p:pic>
      <p:pic>
        <p:nvPicPr>
          <p:cNvPr id="7" name="Último minuto de operaciones" descr="Último minuto de operaci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703320"/>
            <a:ext cx="6949440" cy="8361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MI DIMENSIÓN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¿Caída fuerte en 30 minutos?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Logística calibrada, cada minuto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PR-AUC 0,103 frente a 0,033 en 2026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 vivo empata con su referencia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 cada 100 alertas, unas 14 aciertan</a:t>
            </a:r>
            <a:endParaRPr lang="en-US" sz="1500" dirty="0"/>
          </a:p>
        </p:txBody>
      </p:sp>
      <p:pic>
        <p:nvPicPr>
          <p:cNvPr id="6" name="Panel de caída significativa" descr="Panel de caída signific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7772400" cy="3157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Pronóstico y realidad posterior en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S9 · OBSERVABILIDAD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Sabemos si el pipeline está sano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 de 3 destinos activos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11 reglas de alerta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Vigila velas y operaciones</a:t>
            </a:r>
            <a:endParaRPr lang="en-US" sz="1500" dirty="0"/>
          </a:p>
        </p:txBody>
      </p:sp>
      <p:pic>
        <p:nvPicPr>
          <p:cNvPr id="6" name="Destinos de Prometheus" descr="Destinos de Promethe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20040"/>
            <a:ext cx="4754880" cy="2852928"/>
          </a:xfrm>
          <a:prstGeom prst="rect">
            <a:avLst/>
          </a:prstGeom>
        </p:spPr>
      </p:pic>
      <p:pic>
        <p:nvPicPr>
          <p:cNvPr id="7" name="Reglas de alerta de Prometheus" descr="Reglas de alerta de Promethe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429000"/>
            <a:ext cx="4754880" cy="2852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S9 · CORRELACIÓN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que se explican entre sí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Lote de más de 15 s: crecen los pendientes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Luego envejece la ventana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solo envejece el productor, falla la ingesta</a:t>
            </a:r>
            <a:endParaRPr lang="en-US" sz="1500" dirty="0"/>
          </a:p>
        </p:txBody>
      </p:sp>
      <p:pic>
        <p:nvPicPr>
          <p:cNvPr id="6" name="Duración de micro-lotes" descr="Duración de micro-l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20040"/>
            <a:ext cx="7223760" cy="2934653"/>
          </a:xfrm>
          <a:prstGeom prst="rect">
            <a:avLst/>
          </a:prstGeom>
        </p:spPr>
      </p:pic>
      <p:pic>
        <p:nvPicPr>
          <p:cNvPr id="7" name="Avance de Kafka por tópico" descr="Avance de Kafka por tópi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429000"/>
            <a:ext cx="7223760" cy="293465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S9 · COSTOS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 USD al mes, frente al volumen real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Tarifas ilustrativas, no es factura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1 153 operaciones por minuto en BTC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Unos 5,9 GB a 7 días en Kafka</a:t>
            </a:r>
            <a:endParaRPr lang="en-US" sz="1500" dirty="0"/>
          </a:p>
        </p:txBody>
      </p:sp>
      <p:graphicFrame>
        <p:nvGraphicFramePr>
          <p:cNvPr id="13" name="Criterios de escala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48640"/>
          <a:ext cx="7589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Señal medida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Umbral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Acción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Duración del lote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15 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núcleos o separar inferencia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Velas pendientes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100, 2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particiones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Operaciones pendientes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5 000, 2 min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recursos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Disco de Kafka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10 GB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Retención de 48 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activos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Más de 6 pares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Clúster Spark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Escenario de costo" descr="Escenario de cos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11880"/>
            <a:ext cx="4206240" cy="17096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MI DIMENSIÓN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¿Actividad anómala en 5 minutos?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Logística calibrada por activo y hora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PR-AUC 0,660 frente a 0,072 en 2026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 vivo, peor que su referencia en BTC</a:t>
            </a:r>
            <a:endParaRPr lang="en-US" sz="1500" dirty="0"/>
          </a:p>
        </p:txBody>
      </p:sp>
      <p:pic>
        <p:nvPicPr>
          <p:cNvPr id="6" name="Panel de actividad anómala" descr="Panel de actividad anóma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7772400" cy="3157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Probabilidad a 5 minutos en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S10 · INFERENCIA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modelos de U1, ahora en vivo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minuto: últimas 61 velas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4 modelos, 7 pronósticos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 evalúa al madurar el horizonte</a:t>
            </a:r>
            <a:endParaRPr lang="en-US" sz="1500" dirty="0"/>
          </a:p>
        </p:txBody>
      </p:sp>
      <p:sp>
        <p:nvSpPr>
          <p:cNvPr id="6" name="Paso 1"/>
          <p:cNvSpPr txBox="1"/>
          <p:nvPr/>
        </p:nvSpPr>
        <p:spPr>
          <a:xfrm>
            <a:off x="4206240" y="6858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o paso 1"/>
          <p:cNvSpPr txBox="1"/>
          <p:nvPr/>
        </p:nvSpPr>
        <p:spPr>
          <a:xfrm>
            <a:off x="5212080" y="548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Cierra un minuto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Llega la vela por Kafka</a:t>
            </a:r>
            <a:endParaRPr lang="en-US" sz="2000" dirty="0"/>
          </a:p>
        </p:txBody>
      </p:sp>
      <p:sp>
        <p:nvSpPr>
          <p:cNvPr id="8" name="Paso 2"/>
          <p:cNvSpPr txBox="1"/>
          <p:nvPr/>
        </p:nvSpPr>
        <p:spPr>
          <a:xfrm>
            <a:off x="4206240" y="20574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o paso 2"/>
          <p:cNvSpPr txBox="1"/>
          <p:nvPr/>
        </p:nvSpPr>
        <p:spPr>
          <a:xfrm>
            <a:off x="5212080" y="1920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 calculan variables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Solo con velas ya cerradas</a:t>
            </a:r>
            <a:endParaRPr lang="en-US" sz="2000" dirty="0"/>
          </a:p>
        </p:txBody>
      </p:sp>
      <p:sp>
        <p:nvSpPr>
          <p:cNvPr id="10" name="Paso 3"/>
          <p:cNvSpPr txBox="1"/>
          <p:nvPr/>
        </p:nvSpPr>
        <p:spPr>
          <a:xfrm>
            <a:off x="4206240" y="34290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o paso 3"/>
          <p:cNvSpPr txBox="1"/>
          <p:nvPr/>
        </p:nvSpPr>
        <p:spPr>
          <a:xfrm>
            <a:off x="5212080" y="3291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 emiten 7 pronósticos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 guardan en PostgreSQL</a:t>
            </a:r>
            <a:endParaRPr lang="en-US" sz="2000" dirty="0"/>
          </a:p>
        </p:txBody>
      </p:sp>
      <p:sp>
        <p:nvSpPr>
          <p:cNvPr id="12" name="Paso 4"/>
          <p:cNvSpPr txBox="1"/>
          <p:nvPr/>
        </p:nvSpPr>
        <p:spPr>
          <a:xfrm>
            <a:off x="4206240" y="48006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o paso 4"/>
          <p:cNvSpPr txBox="1"/>
          <p:nvPr/>
        </p:nvSpPr>
        <p:spPr>
          <a:xfrm>
            <a:off x="5212080" y="4663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Madura el horizonte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 compara con lo ocurrido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MI DIMENSIÓN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volatilidad habrá en 15 minutos?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Random Forest para BTC y SOL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 U1 ganó entre 4 opciones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Mide intensidad, no dirección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Límite: se queda corto en picos</a:t>
            </a:r>
            <a:endParaRPr lang="en-US" sz="1500" dirty="0"/>
          </a:p>
        </p:txBody>
      </p:sp>
      <p:pic>
        <p:nvPicPr>
          <p:cNvPr id="6" name="Panel de volatilidad" descr="Panel de volatil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7772400" cy="3157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Observada, pronóstico y realidad futura en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VALIDACIÓN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gana a su referencia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Prueba 2026: RMSE 0,129 frente a 0,151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 vivo: menor error en ambos activos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Muestra corta, de un solo día</a:t>
            </a:r>
            <a:endParaRPr lang="en-US" sz="1500" dirty="0"/>
          </a:p>
        </p:txBody>
      </p:sp>
      <p:graphicFrame>
        <p:nvGraphicFramePr>
          <p:cNvPr id="6" name="Error de volatilidad" descr=""/>
          <p:cNvGraphicFramePr/>
          <p:nvPr/>
        </p:nvGraphicFramePr>
        <p:xfrm>
          <a:off x="4023360" y="365760"/>
          <a:ext cx="7772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Evaluación en vivo" descr="Evaluación en v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337560"/>
            <a:ext cx="6373368" cy="16630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S11 · BI/ML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y predicción en la misma vista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Estado, señales y pronósticos juntos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 analista ve qué pasa y qué se espera</a:t>
            </a:r>
            <a:endParaRPr lang="en-US" sz="1500" dirty="0"/>
          </a:p>
        </p:txBody>
      </p:sp>
      <p:pic>
        <p:nvPicPr>
          <p:cNvPr id="6" name="Tablero CryptoPulse en estado LISTO" descr="Tablero CryptoPulse en estado LIS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85800"/>
            <a:ext cx="7772400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MI DIMENSIÓN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se separarán SOL y BTC?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Ridge para el par, a 15 minutos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RMSE 0,149 frente a 0,198 en 2026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 vivo supera por poco a su referencia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La dirección no mejoró; se cambió a tamaño</a:t>
            </a:r>
            <a:endParaRPr lang="en-US" sz="1500" dirty="0"/>
          </a:p>
        </p:txBody>
      </p:sp>
      <p:pic>
        <p:nvPicPr>
          <p:cNvPr id="6" name="Panel de separación BTC–SOL" descr="Panel de separación BTC–S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7772400" cy="3157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Tamaño |SOL − BTC| a 15 minutos en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S12 · INTEGRACIÓN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se comprueba con un comando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Pipeline completo en un solo sistema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Caídas detectadas y recuperadas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Instalación con scripts y CI</a:t>
            </a:r>
            <a:endParaRPr lang="en-US" sz="1500" dirty="0"/>
          </a:p>
        </p:txBody>
      </p:sp>
      <p:sp>
        <p:nvSpPr>
          <p:cNvPr id="6" name="Resultado Integración"/>
          <p:cNvSpPr txBox="1"/>
          <p:nvPr/>
        </p:nvSpPr>
        <p:spPr>
          <a:xfrm>
            <a:off x="4114800" y="50292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PASS</a:t>
            </a:r>
            <a:endParaRPr lang="en-US" sz="1700" dirty="0"/>
          </a:p>
        </p:txBody>
      </p:sp>
      <p:sp>
        <p:nvSpPr>
          <p:cNvPr id="7" name="Prueba Integración"/>
          <p:cNvSpPr txBox="1"/>
          <p:nvPr/>
        </p:nvSpPr>
        <p:spPr>
          <a:xfrm>
            <a:off x="5394960" y="4114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Integración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Contrato, duplicados, tardíos y checkpoints</a:t>
            </a:r>
            <a:endParaRPr lang="en-US" sz="1800" dirty="0"/>
          </a:p>
        </p:txBody>
      </p:sp>
      <p:sp>
        <p:nvSpPr>
          <p:cNvPr id="8" name="Resultado Verificación final"/>
          <p:cNvSpPr txBox="1"/>
          <p:nvPr/>
        </p:nvSpPr>
        <p:spPr>
          <a:xfrm>
            <a:off x="4114800" y="141732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PASS</a:t>
            </a:r>
            <a:endParaRPr lang="en-US" sz="1700" dirty="0"/>
          </a:p>
        </p:txBody>
      </p:sp>
      <p:sp>
        <p:nvSpPr>
          <p:cNvPr id="9" name="Prueba Verificación final"/>
          <p:cNvSpPr txBox="1"/>
          <p:nvPr/>
        </p:nvSpPr>
        <p:spPr>
          <a:xfrm>
            <a:off x="5394960" y="1325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Verificación final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Sesiones S03 a S12 contra el sistema vivo</a:t>
            </a:r>
            <a:endParaRPr lang="en-US" sz="1800" dirty="0"/>
          </a:p>
        </p:txBody>
      </p:sp>
      <p:sp>
        <p:nvSpPr>
          <p:cNvPr id="10" name="Resultado Recuperación"/>
          <p:cNvSpPr txBox="1"/>
          <p:nvPr/>
        </p:nvSpPr>
        <p:spPr>
          <a:xfrm>
            <a:off x="4114800" y="2331720"/>
            <a:ext cx="10972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PASS</a:t>
            </a:r>
            <a:endParaRPr lang="en-US" sz="1700" dirty="0"/>
          </a:p>
        </p:txBody>
      </p:sp>
      <p:sp>
        <p:nvSpPr>
          <p:cNvPr id="11" name="Prueba Recuperación"/>
          <p:cNvSpPr txBox="1"/>
          <p:nvPr/>
        </p:nvSpPr>
        <p:spPr>
          <a:xfrm>
            <a:off x="5394960" y="22402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Recuperación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Caída y vuelta de ambos productores</a:t>
            </a:r>
            <a:endParaRPr lang="en-US" sz="1800" dirty="0"/>
          </a:p>
        </p:txBody>
      </p:sp>
      <p:pic>
        <p:nvPicPr>
          <p:cNvPr id="12" name="Estado integral del producto" descr="Estado integral del produ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429000"/>
            <a:ext cx="4206240" cy="17096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365760" y="411480"/>
            <a:ext cx="219456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RÚBRICA U2</a:t>
            </a:r>
            <a:endParaRPr lang="en-US" sz="13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365760" y="960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para cada criterio</a:t>
            </a:r>
            <a:endParaRPr lang="en-US" sz="29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365760" y="26517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Criterios 1 a 7 con evidencia en vivo</a:t>
            </a:r>
            <a:endParaRPr lang="en-US" sz="15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 criterio 8 se demuestra hoy</a:t>
            </a:r>
            <a:endParaRPr lang="en-US" sz="1500" dirty="0"/>
          </a:p>
        </p:txBody>
      </p:sp>
      <p:sp>
        <p:nvSpPr>
          <p:cNvPr id="6" name="Criterio 1"/>
          <p:cNvSpPr txBox="1"/>
          <p:nvPr/>
        </p:nvSpPr>
        <p:spPr>
          <a:xfrm>
            <a:off x="4114800" y="457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1. Eventos empresariales</a:t>
            </a:r>
            <a:endParaRPr lang="en-US" sz="1700" dirty="0"/>
          </a:p>
        </p:txBody>
      </p:sp>
      <p:sp>
        <p:nvSpPr>
          <p:cNvPr id="7" name="Peso 1"/>
          <p:cNvSpPr txBox="1"/>
          <p:nvPr/>
        </p:nvSpPr>
        <p:spPr>
          <a:xfrm>
            <a:off x="832104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12%</a:t>
            </a:r>
            <a:endParaRPr lang="en-US" sz="1700" dirty="0"/>
          </a:p>
        </p:txBody>
      </p:sp>
      <p:sp>
        <p:nvSpPr>
          <p:cNvPr id="8" name="Responsable 1"/>
          <p:cNvSpPr txBox="1"/>
          <p:nvPr/>
        </p:nvSpPr>
        <p:spPr>
          <a:xfrm>
            <a:off x="9235440" y="4846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Julmer</a:t>
            </a:r>
            <a:endParaRPr lang="en-US" sz="1500" dirty="0"/>
          </a:p>
        </p:txBody>
      </p:sp>
      <p:sp>
        <p:nvSpPr>
          <p:cNvPr id="9" name="Criterio 2"/>
          <p:cNvSpPr txBox="1"/>
          <p:nvPr/>
        </p:nvSpPr>
        <p:spPr>
          <a:xfrm>
            <a:off x="4114800" y="1143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2. IoT/sensores</a:t>
            </a:r>
            <a:endParaRPr lang="en-US" sz="1700" dirty="0"/>
          </a:p>
        </p:txBody>
      </p:sp>
      <p:sp>
        <p:nvSpPr>
          <p:cNvPr id="10" name="Peso 2"/>
          <p:cNvSpPr txBox="1"/>
          <p:nvPr/>
        </p:nvSpPr>
        <p:spPr>
          <a:xfrm>
            <a:off x="832104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10%</a:t>
            </a:r>
            <a:endParaRPr lang="en-US" sz="1700" dirty="0"/>
          </a:p>
        </p:txBody>
      </p:sp>
      <p:sp>
        <p:nvSpPr>
          <p:cNvPr id="11" name="Responsable 2"/>
          <p:cNvSpPr txBox="1"/>
          <p:nvPr/>
        </p:nvSpPr>
        <p:spPr>
          <a:xfrm>
            <a:off x="9235440" y="11704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Julmer</a:t>
            </a:r>
            <a:endParaRPr lang="en-US" sz="1500" dirty="0"/>
          </a:p>
        </p:txBody>
      </p:sp>
      <p:sp>
        <p:nvSpPr>
          <p:cNvPr id="12" name="Criterio 3"/>
          <p:cNvSpPr txBox="1"/>
          <p:nvPr/>
        </p:nvSpPr>
        <p:spPr>
          <a:xfrm>
            <a:off x="411480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3. Spark Streaming</a:t>
            </a:r>
            <a:endParaRPr lang="en-US" sz="1700" dirty="0"/>
          </a:p>
        </p:txBody>
      </p:sp>
      <p:sp>
        <p:nvSpPr>
          <p:cNvPr id="13" name="Peso 3"/>
          <p:cNvSpPr txBox="1"/>
          <p:nvPr/>
        </p:nvSpPr>
        <p:spPr>
          <a:xfrm>
            <a:off x="8321040" y="1828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14%</a:t>
            </a:r>
            <a:endParaRPr lang="en-US" sz="1700" dirty="0"/>
          </a:p>
        </p:txBody>
      </p:sp>
      <p:sp>
        <p:nvSpPr>
          <p:cNvPr id="14" name="Responsable 3"/>
          <p:cNvSpPr txBox="1"/>
          <p:nvPr/>
        </p:nvSpPr>
        <p:spPr>
          <a:xfrm>
            <a:off x="9235440" y="18562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Julmer</a:t>
            </a:r>
            <a:endParaRPr lang="en-US" sz="1500" dirty="0"/>
          </a:p>
        </p:txBody>
      </p:sp>
      <p:sp>
        <p:nvSpPr>
          <p:cNvPr id="15" name="Criterio 4"/>
          <p:cNvSpPr txBox="1"/>
          <p:nvPr/>
        </p:nvSpPr>
        <p:spPr>
          <a:xfrm>
            <a:off x="4114800" y="2514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4. Observabilidad</a:t>
            </a:r>
            <a:endParaRPr lang="en-US" sz="1700" dirty="0"/>
          </a:p>
        </p:txBody>
      </p:sp>
      <p:sp>
        <p:nvSpPr>
          <p:cNvPr id="16" name="Peso 4"/>
          <p:cNvSpPr txBox="1"/>
          <p:nvPr/>
        </p:nvSpPr>
        <p:spPr>
          <a:xfrm>
            <a:off x="832104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12%</a:t>
            </a:r>
            <a:endParaRPr lang="en-US" sz="1700" dirty="0"/>
          </a:p>
        </p:txBody>
      </p:sp>
      <p:sp>
        <p:nvSpPr>
          <p:cNvPr id="17" name="Responsable 4"/>
          <p:cNvSpPr txBox="1"/>
          <p:nvPr/>
        </p:nvSpPr>
        <p:spPr>
          <a:xfrm>
            <a:off x="9235440" y="25420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Abdul</a:t>
            </a:r>
            <a:endParaRPr lang="en-US" sz="1500" dirty="0"/>
          </a:p>
        </p:txBody>
      </p:sp>
      <p:sp>
        <p:nvSpPr>
          <p:cNvPr id="18" name="Criterio 5"/>
          <p:cNvSpPr txBox="1"/>
          <p:nvPr/>
        </p:nvSpPr>
        <p:spPr>
          <a:xfrm>
            <a:off x="4114800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5. Costos y escalado</a:t>
            </a:r>
            <a:endParaRPr lang="en-US" sz="1700" dirty="0"/>
          </a:p>
        </p:txBody>
      </p:sp>
      <p:sp>
        <p:nvSpPr>
          <p:cNvPr id="19" name="Peso 5"/>
          <p:cNvSpPr txBox="1"/>
          <p:nvPr/>
        </p:nvSpPr>
        <p:spPr>
          <a:xfrm>
            <a:off x="83210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8%</a:t>
            </a:r>
            <a:endParaRPr lang="en-US" sz="1700" dirty="0"/>
          </a:p>
        </p:txBody>
      </p:sp>
      <p:sp>
        <p:nvSpPr>
          <p:cNvPr id="20" name="Responsable 5"/>
          <p:cNvSpPr txBox="1"/>
          <p:nvPr/>
        </p:nvSpPr>
        <p:spPr>
          <a:xfrm>
            <a:off x="9235440" y="32278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Abdul</a:t>
            </a:r>
            <a:endParaRPr lang="en-US" sz="1500" dirty="0"/>
          </a:p>
        </p:txBody>
      </p:sp>
      <p:sp>
        <p:nvSpPr>
          <p:cNvPr id="21" name="Criterio 6"/>
          <p:cNvSpPr txBox="1"/>
          <p:nvPr/>
        </p:nvSpPr>
        <p:spPr>
          <a:xfrm>
            <a:off x="411480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6. Salidas BI/ML</a:t>
            </a:r>
            <a:endParaRPr lang="en-US" sz="1700" dirty="0"/>
          </a:p>
        </p:txBody>
      </p:sp>
      <p:sp>
        <p:nvSpPr>
          <p:cNvPr id="22" name="Peso 6"/>
          <p:cNvSpPr txBox="1"/>
          <p:nvPr/>
        </p:nvSpPr>
        <p:spPr>
          <a:xfrm>
            <a:off x="8321040" y="3886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12%</a:t>
            </a:r>
            <a:endParaRPr lang="en-US" sz="1700" dirty="0"/>
          </a:p>
        </p:txBody>
      </p:sp>
      <p:sp>
        <p:nvSpPr>
          <p:cNvPr id="23" name="Responsable 6"/>
          <p:cNvSpPr txBox="1"/>
          <p:nvPr/>
        </p:nvSpPr>
        <p:spPr>
          <a:xfrm>
            <a:off x="9235440" y="39136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Milagros</a:t>
            </a:r>
            <a:endParaRPr lang="en-US" sz="1500" dirty="0"/>
          </a:p>
        </p:txBody>
      </p:sp>
      <p:sp>
        <p:nvSpPr>
          <p:cNvPr id="24" name="Criterio 7"/>
          <p:cNvSpPr txBox="1"/>
          <p:nvPr/>
        </p:nvSpPr>
        <p:spPr>
          <a:xfrm>
            <a:off x="4114800" y="4572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7. Series de tiempo</a:t>
            </a:r>
            <a:endParaRPr lang="en-US" sz="1700" dirty="0"/>
          </a:p>
        </p:txBody>
      </p:sp>
      <p:sp>
        <p:nvSpPr>
          <p:cNvPr id="25" name="Peso 7"/>
          <p:cNvSpPr txBox="1"/>
          <p:nvPr/>
        </p:nvSpPr>
        <p:spPr>
          <a:xfrm>
            <a:off x="8321040" y="4572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12%</a:t>
            </a:r>
            <a:endParaRPr lang="en-US" sz="1700" dirty="0"/>
          </a:p>
        </p:txBody>
      </p:sp>
      <p:sp>
        <p:nvSpPr>
          <p:cNvPr id="26" name="Responsable 7"/>
          <p:cNvSpPr txBox="1"/>
          <p:nvPr/>
        </p:nvSpPr>
        <p:spPr>
          <a:xfrm>
            <a:off x="9235440" y="45994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Los cuatro</a:t>
            </a:r>
            <a:endParaRPr lang="en-US" sz="1500" dirty="0"/>
          </a:p>
        </p:txBody>
      </p:sp>
      <p:sp>
        <p:nvSpPr>
          <p:cNvPr id="27" name="Criterio 8"/>
          <p:cNvSpPr txBox="1"/>
          <p:nvPr/>
        </p:nvSpPr>
        <p:spPr>
          <a:xfrm>
            <a:off x="4114800" y="5257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8. Sustentación</a:t>
            </a:r>
            <a:endParaRPr lang="en-US" sz="1700" dirty="0"/>
          </a:p>
        </p:txBody>
      </p:sp>
      <p:sp>
        <p:nvSpPr>
          <p:cNvPr id="28" name="Peso 8"/>
          <p:cNvSpPr txBox="1"/>
          <p:nvPr/>
        </p:nvSpPr>
        <p:spPr>
          <a:xfrm>
            <a:off x="8321040" y="5257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20%</a:t>
            </a:r>
            <a:endParaRPr lang="en-US" sz="1700" dirty="0"/>
          </a:p>
        </p:txBody>
      </p:sp>
      <p:sp>
        <p:nvSpPr>
          <p:cNvPr id="29" name="Responsable 8"/>
          <p:cNvSpPr txBox="1"/>
          <p:nvPr/>
        </p:nvSpPr>
        <p:spPr>
          <a:xfrm>
            <a:off x="9235440" y="5285232"/>
            <a:ext cx="2468880" cy="493776"/>
          </a:xfrm>
          <a:prstGeom prst="roundRect">
            <a:avLst>
              <a:gd name="adj" fmla="val 185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Cada integrante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dejamos claro</a:t>
            </a:r>
            <a:endParaRPr lang="en-US" sz="4200" dirty="0"/>
          </a:p>
        </p:txBody>
      </p:sp>
      <p:sp>
        <p:nvSpPr>
          <p:cNvPr id="3" name="Cierre 4 de 4"/>
          <p:cNvSpPr txBox="1"/>
          <p:nvPr/>
        </p:nvSpPr>
        <p:spPr>
          <a:xfrm>
            <a:off x="640080" y="173736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5"/>
                </a:solidFill>
              </a:rPr>
              <a:t>4 de 4</a:t>
            </a:r>
            <a:endParaRPr lang="en-US" sz="38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modelos superan su referencia en la prueba 2026</a:t>
            </a:r>
            <a:endParaRPr lang="en-US" sz="3800" dirty="0"/>
          </a:p>
        </p:txBody>
      </p:sp>
      <p:sp>
        <p:nvSpPr>
          <p:cNvPr id="4" name="Cierre 7/7"/>
          <p:cNvSpPr txBox="1"/>
          <p:nvPr/>
        </p:nvSpPr>
        <p:spPr>
          <a:xfrm>
            <a:off x="4343400" y="173736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5"/>
                </a:solidFill>
              </a:rPr>
              <a:t>7/7</a:t>
            </a:r>
            <a:endParaRPr lang="en-US" sz="38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pronósticos vigentes en un pipeline real</a:t>
            </a:r>
            <a:endParaRPr lang="en-US" sz="3800" dirty="0"/>
          </a:p>
        </p:txBody>
      </p:sp>
      <p:sp>
        <p:nvSpPr>
          <p:cNvPr id="5" name="Cierre Pocas horas"/>
          <p:cNvSpPr txBox="1"/>
          <p:nvPr/>
        </p:nvSpPr>
        <p:spPr>
          <a:xfrm>
            <a:off x="8046720" y="173736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6"/>
                </a:solidFill>
              </a:rPr>
              <a:t>Pocas horas</a:t>
            </a:r>
            <a:endParaRPr lang="en-US" sz="38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en vivo: una muestra corta que seguimos midiendo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69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 vivo, volatilidad supera con claridad a su referencia y separación por poco; caída empata y actividad queda por debajo en BTC. Por eso cada pronóstico se sigue evaluando.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 ¿Preguntas?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yptoPulse U2">
  <a:themeElements>
    <a:clrScheme name="CryptoPulse U2">
      <a:dk1>
        <a:srgbClr val="0B1020"/>
      </a:dk1>
      <a:lt1>
        <a:srgbClr val="FFFFFF"/>
      </a:lt1>
      <a:dk2>
        <a:srgbClr val="141B31"/>
      </a:dk2>
      <a:lt2>
        <a:srgbClr val="E8ECF8"/>
      </a:lt2>
      <a:accent1>
        <a:srgbClr val="1F5FD6"/>
      </a:accent1>
      <a:accent2>
        <a:srgbClr val="D6246E"/>
      </a:accent2>
      <a:accent3>
        <a:srgbClr val="35C4EE"/>
      </a:accent3>
      <a:accent4>
        <a:srgbClr val="7C3AED"/>
      </a:accent4>
      <a:accent5>
        <a:srgbClr val="14F195"/>
      </a:accent5>
      <a:accent6>
        <a:srgbClr val="F7931A"/>
      </a:accent6>
      <a:hlink>
        <a:srgbClr val="35C4EE"/>
      </a:hlink>
      <a:folHlink>
        <a:srgbClr val="A3AECA"/>
      </a:folHlink>
    </a:clrScheme>
    <a:fontScheme name="CryptoPulse U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CryptoPulse · Producto de Unidad 2</dc:title>
  <dc:subject>PptxGenJS Presentation</dc:subject>
  <dc:creator>Grupo 3</dc:creator>
  <cp:lastModifiedBy>Grupo 3</cp:lastModifiedBy>
  <cp:revision>1</cp:revision>
  <dcterms:created xsi:type="dcterms:W3CDTF">2026-10-30T19:41:02Z</dcterms:created>
  <dcterms:modified xsi:type="dcterms:W3CDTF">2026-10-30T19:41:02Z</dcterms:modified>
</cp:coreProperties>
</file>