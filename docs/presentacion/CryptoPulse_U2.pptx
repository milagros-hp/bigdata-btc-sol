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 · Luz Milagros" id="{858bee08-69c2-132d-f530-e45836e2fbde}">
          <p14:sldIdLst>
            <p14:sldId id="256"/>
            <p14:sldId id="257"/>
            <p14:sldId id="258"/>
            <p14:sldId id="259"/>
          </p14:sldIdLst>
        </p14:section>
        <p14:section name="Ingesta y streaming · Julmer" id="{34fb967a-2b0a-088a-a780-455f0b8fb3ae}">
          <p14:sldIdLst>
            <p14:sldId id="260"/>
            <p14:sldId id="261"/>
            <p14:sldId id="262"/>
            <p14:sldId id="263"/>
            <p14:sldId id="264"/>
          </p14:sldIdLst>
        </p14:section>
        <p14:section name="Observabilidad y costos · Abdul" id="{69d773da-8844-29c6-2bdf-d0a45bc8e10c}">
          <p14:sldIdLst>
            <p14:sldId id="265"/>
            <p14:sldId id="266"/>
            <p14:sldId id="267"/>
            <p14:sldId id="268"/>
          </p14:sldIdLst>
        </p14:section>
        <p14:section name="Inferencia · Franck" id="{c07ea43a-c047-181d-9426-b61cf88b21f4}">
          <p14:sldIdLst>
            <p14:sldId id="269"/>
            <p14:sldId id="270"/>
            <p14:sldId id="271"/>
          </p14:sldIdLst>
        </p14:section>
        <p14:section name="BI/ML e integración · Luz Milagros" id="{962737f1-96d5-782d-8e2c-0faea4c8b604}">
          <p14:sldIdLst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Error absoluto medio (MAE): menos es mejor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A0662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6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BTC en vivo</c:v>
                  </c:pt>
                  <c:pt idx="1">
                    <c:v>SOL en vivo</c:v>
                  </c:pt>
                  <c:pt idx="2">
                    <c:v>Prueba 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0.06</c:v>
                </c:pt>
                <c:pt idx="1">
                  <c:v>0.084</c:v>
                </c:pt>
                <c:pt idx="2">
                  <c:v>0.079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Referencia</c:v>
                </c:pt>
              </c:strCache>
            </c:strRef>
          </c:tx>
          <c:spPr>
            <a:solidFill>
              <a:srgbClr val="C9CED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6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BTC en vivo</c:v>
                  </c:pt>
                  <c:pt idx="1">
                    <c:v>SOL en vivo</c:v>
                  </c:pt>
                  <c:pt idx="2">
                    <c:v>Prueba 2026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0.089</c:v>
                </c:pt>
                <c:pt idx="1">
                  <c:v>0.108</c:v>
                </c:pt>
                <c:pt idx="2">
                  <c:v>0.085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F26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6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 abre. Presenta al equipo y explica que el color indica quién expone.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Milagros: plantea la pregunta central y las cuatro dimensiones.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Milagros: pitch de evolución desde U1, antes de la demo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Milagros: recorre el flujo de izquierda a derecha y da paso a Julmer.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Julmer: abre un mensaje en Kafka UI y muestra el contrato. Criterio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Julmer: explica la analogía con un sensor. La guía admite telemetría. Criterio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Julmer: explica cada consulta y qué comprueban las pruebas. Criterio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Julmer: conecta la ingesta con el valor para el analista.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Julmer: sustenta su dimensión y su límite real. Sirve para priorizar revisión. Criterio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Abdul: muestra destinos y alertas en Prometheus. Criterio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Abdul: explica cómo leer las métricas juntas para ubicar el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Abdul: el costo parte de recursos y volumen medidos. Criterio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Abdul: sustenta su dimensión y su límite. La muestra es corta y es lo primero a vigilar.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Franck: explica la inferencia en streaming y por qué no hay fuga de información.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Franck: señala pronóstico, observado y realidad futura. La realidad aparece 15 minutos después. Criterio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Franck: muestra la validación en prueba y en vivo. Cifras del 30 de octubre, 15:07 a 18:34 UTC.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Milagros: muestra el tablero en vivo. Criterio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Milagros: sustenta su dimensión y la decisión de reformularla.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 y Franck: Franck integró y publicó el pipeline. Si hay tiempo, ejecutar la prueba de recuperación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 Milagros: recorre la rúbrica. No se autoasigna calificación: la pone el jurado.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equipo. Cada integrante responde sobre su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CryptoPulse · Producto de Unidad 2 · Grupo 3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_IZQ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23560" y="749808"/>
            <a:ext cx="60350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ntalla con un gráfico del precio de Bitco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02552" y="0"/>
            <a:ext cx="5486400" cy="6858000"/>
          </a:xfrm>
          <a:prstGeom prst="rect">
            <a:avLst/>
          </a:prstGeom>
          <a:solidFill>
            <a:schemeClr val="tx2">
              <a:alpha val="45000"/>
            </a:scheme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6858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BIG DATA · UPEU 2026-2 · GRUPO 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143000"/>
            <a:ext cx="5852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CryptoPulse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chemeClr val="accent1"/>
                </a:solidFill>
              </a:rPr>
              <a:t>en tiempo real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7180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D6E4"/>
                </a:solidFill>
              </a:rPr>
              <a:t>Del histórico de 4,99 millones de velas a un riesgo pronosticado cada minuto para BTC y SOL.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Producto de Unidad 2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4526280"/>
            <a:ext cx="2697480" cy="640080"/>
          </a:xfrm>
          <a:prstGeom prst="roundRect">
            <a:avLst>
              <a:gd name="adj" fmla="val 14286"/>
            </a:avLst>
          </a:prstGeom>
          <a:solidFill>
            <a:srgbClr val="1E2C4D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4764024"/>
            <a:ext cx="164592" cy="164592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97280" y="458114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Luz Milagros Huanca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AEB8CB"/>
                </a:solidFill>
              </a:rPr>
              <a:t>Apertura · S11 · S12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74720" y="4526280"/>
            <a:ext cx="2697480" cy="640080"/>
          </a:xfrm>
          <a:prstGeom prst="roundRect">
            <a:avLst>
              <a:gd name="adj" fmla="val 14286"/>
            </a:avLst>
          </a:prstGeom>
          <a:solidFill>
            <a:srgbClr val="1E2C4D"/>
          </a:solidFill>
          <a:ln/>
        </p:spPr>
      </p:sp>
      <p:sp>
        <p:nvSpPr>
          <p:cNvPr id="12" name="Shape 9"/>
          <p:cNvSpPr/>
          <p:nvPr/>
        </p:nvSpPr>
        <p:spPr>
          <a:xfrm>
            <a:off x="3657600" y="4764024"/>
            <a:ext cx="164592" cy="164592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31920" y="458114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Julmer Quispe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AEB8CB"/>
                </a:solidFill>
              </a:rPr>
              <a:t>S6 · S7 · S8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5303520"/>
            <a:ext cx="2697480" cy="640080"/>
          </a:xfrm>
          <a:prstGeom prst="roundRect">
            <a:avLst>
              <a:gd name="adj" fmla="val 14286"/>
            </a:avLst>
          </a:prstGeom>
          <a:solidFill>
            <a:srgbClr val="1E2C4D"/>
          </a:solidFill>
          <a:ln/>
        </p:spPr>
      </p:sp>
      <p:sp>
        <p:nvSpPr>
          <p:cNvPr id="15" name="Shape 12"/>
          <p:cNvSpPr/>
          <p:nvPr/>
        </p:nvSpPr>
        <p:spPr>
          <a:xfrm>
            <a:off x="822960" y="5541264"/>
            <a:ext cx="164592" cy="164592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7280" y="535838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Abdul Quispe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AEB8CB"/>
                </a:solidFill>
              </a:rPr>
              <a:t>S9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474720" y="5303520"/>
            <a:ext cx="2697480" cy="640080"/>
          </a:xfrm>
          <a:prstGeom prst="roundRect">
            <a:avLst>
              <a:gd name="adj" fmla="val 14286"/>
            </a:avLst>
          </a:prstGeom>
          <a:solidFill>
            <a:srgbClr val="1E2C4D"/>
          </a:solidFill>
          <a:ln/>
        </p:spPr>
      </p:sp>
      <p:sp>
        <p:nvSpPr>
          <p:cNvPr id="18" name="Shape 15"/>
          <p:cNvSpPr/>
          <p:nvPr/>
        </p:nvSpPr>
        <p:spPr>
          <a:xfrm>
            <a:off x="3657600" y="5541264"/>
            <a:ext cx="164592" cy="164592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31920" y="535838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Franck Coaquira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AEB8CB"/>
                </a:solidFill>
              </a:rPr>
              <a:t>S10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8CB"/>
                </a:solidFill>
              </a:rPr>
              <a:t>Cada diapositiva indica quién expone esa parte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9692640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FD6E4"/>
                </a:solidFill>
              </a:rPr>
              <a:t>Foto: Behnam Norouzi · Unsplash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nalista revisando datos financieros en una tabl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" y="6537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Foto: Jakub Żerdzicki · Unsplash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5623560" y="347472"/>
            <a:ext cx="1417320" cy="292608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623560" y="3474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2"/>
                </a:solidFill>
              </a:rPr>
              <a:t>EL PROBLEMA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Luz Milagros</a:t>
            </a:r>
            <a:endParaRPr lang="en-US" sz="11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5623560" y="74980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Anticipar el riesgo, no solo verlo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623560" y="160020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«¿Cómo puede un analista de riesgo anticipar, con 5 a 30 minutos de antelación, volatilidad alta, caídas fuertes, actividad anómala y desacople entre BTC y SOL?»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623560" y="3063240"/>
            <a:ext cx="29260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5852160" y="3337560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72200" y="32186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Volatilidad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15 min · Franck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686800" y="3063240"/>
            <a:ext cx="29260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4" name="Shape 11"/>
          <p:cNvSpPr/>
          <p:nvPr/>
        </p:nvSpPr>
        <p:spPr>
          <a:xfrm>
            <a:off x="8915400" y="333756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235440" y="32186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Caída fuerte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30 min · Julmer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623560" y="4297680"/>
            <a:ext cx="29260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7" name="Shape 14"/>
          <p:cNvSpPr/>
          <p:nvPr/>
        </p:nvSpPr>
        <p:spPr>
          <a:xfrm>
            <a:off x="5852160" y="4572000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172200" y="44531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Actividad anómala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5 min · Abdul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686800" y="4297680"/>
            <a:ext cx="29260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0" name="Shape 17"/>
          <p:cNvSpPr/>
          <p:nvPr/>
        </p:nvSpPr>
        <p:spPr>
          <a:xfrm>
            <a:off x="8915400" y="457200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235440" y="44531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Separación BTC–SOL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15 min · Milagros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623560" y="56692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BTC y SOL se mueven en minutos: el analista necesita señales antes de que ocurra.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051560" cy="292608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2"/>
                </a:solidFill>
              </a:rPr>
              <a:t>DE U1 A U2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Luz Milagros</a:t>
            </a:r>
            <a:endParaRPr lang="en-US" sz="11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Del histórico a un pipeline vivo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03520" cy="3977640"/>
          </a:xfrm>
          <a:prstGeom prst="roundRect">
            <a:avLst>
              <a:gd name="adj" fmla="val 3218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6"/>
                </a:solidFill>
              </a:rPr>
              <a:t>UNIDAD 1 · BATCH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1460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Datos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4 993 757 velas históricas validadas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0098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Proceso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Batch con PySpark y Parquet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08736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Modelos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Entrenados y comparados con la historia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87375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Salida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notebook por integrante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783080"/>
            <a:ext cx="5303520" cy="3977640"/>
          </a:xfrm>
          <a:prstGeom prst="roundRect">
            <a:avLst>
              <a:gd name="adj" fmla="val 321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7512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UNIDAD 2 · TIEMPO REAL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51460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EB8CB"/>
                </a:solidFill>
              </a:rPr>
              <a:t>Datos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Operaciones y velas en vivo desde Binance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30098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EB8CB"/>
                </a:solidFill>
              </a:rPr>
              <a:t>Proceso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Spark Structured Streaming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408736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EB8CB"/>
                </a:solidFill>
              </a:rPr>
              <a:t>Modelos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Aplicados cada minuto y evaluados al madurar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487375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EB8CB"/>
                </a:solidFill>
              </a:rPr>
              <a:t>Salida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Tablero Grafana en vivo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3493008"/>
            <a:ext cx="658368" cy="65836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3493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 modelos de U1 ahora trabajan en vivo, y cada pronóstico se compara después con lo que ocurrió.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225296" cy="292608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2"/>
                </a:solidFill>
              </a:rPr>
              <a:t>ARQUITECTURA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Luz Milagros</a:t>
            </a:r>
            <a:endParaRPr lang="en-US" sz="11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 solo pipeline, de la fuente al tablero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9202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2788920"/>
            <a:ext cx="19202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Binance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5E9F0"/>
                </a:solidFill>
              </a:rPr>
              <a:t>WebSocket y REST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63240" y="1828800"/>
            <a:ext cx="2103120" cy="868680"/>
          </a:xfrm>
          <a:prstGeom prst="roundRect">
            <a:avLst>
              <a:gd name="adj" fmla="val 12632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063240" y="1828800"/>
            <a:ext cx="21031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Kafka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5E9F0"/>
                </a:solidFill>
              </a:rPr>
              <a:t>market.trades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063240" y="3794760"/>
            <a:ext cx="2103120" cy="868680"/>
          </a:xfrm>
          <a:prstGeom prst="roundRect">
            <a:avLst>
              <a:gd name="adj" fmla="val 12632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063240" y="3794760"/>
            <a:ext cx="21031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Kafka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5E9F0"/>
                </a:solidFill>
              </a:rPr>
              <a:t>market.klines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760720" y="2788920"/>
            <a:ext cx="192024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760720" y="2788920"/>
            <a:ext cx="19202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Spark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5E9F0"/>
                </a:solidFill>
              </a:rPr>
              <a:t>4 consultas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75320" y="1828800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75320" y="1828800"/>
            <a:ext cx="20116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75320" y="3291840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75320" y="3291840"/>
            <a:ext cx="20116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Grafana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5E9F0"/>
                </a:solidFill>
              </a:rPr>
              <a:t>KPIs + predicción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75320" y="4754880"/>
            <a:ext cx="201168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75320" y="4754880"/>
            <a:ext cx="20116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Prometheus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5E9F0"/>
                </a:solidFill>
              </a:rPr>
              <a:t>11 alertas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 flipV="1">
            <a:off x="2468880" y="2286000"/>
            <a:ext cx="594360" cy="822960"/>
          </a:xfrm>
          <a:prstGeom prst="line">
            <a:avLst/>
          </a:prstGeom>
          <a:noFill/>
          <a:ln w="22225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468880" y="3383280"/>
            <a:ext cx="594360" cy="822960"/>
          </a:xfrm>
          <a:prstGeom prst="line">
            <a:avLst/>
          </a:prstGeom>
          <a:noFill/>
          <a:ln w="22225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166360" y="2286000"/>
            <a:ext cx="594360" cy="777240"/>
          </a:xfrm>
          <a:prstGeom prst="line">
            <a:avLst/>
          </a:prstGeom>
          <a:noFill/>
          <a:ln w="22225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5166360" y="3429000"/>
            <a:ext cx="594360" cy="777240"/>
          </a:xfrm>
          <a:prstGeom prst="line">
            <a:avLst/>
          </a:prstGeom>
          <a:noFill/>
          <a:ln w="22225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7680960" y="2286000"/>
            <a:ext cx="594360" cy="777240"/>
          </a:xfrm>
          <a:prstGeom prst="line">
            <a:avLst/>
          </a:prstGeom>
          <a:noFill/>
          <a:ln w="22225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81160" y="2697480"/>
            <a:ext cx="914" cy="594360"/>
          </a:xfrm>
          <a:prstGeom prst="line">
            <a:avLst/>
          </a:prstGeom>
          <a:noFill/>
          <a:ln w="22225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9281160" y="4160520"/>
            <a:ext cx="914" cy="594360"/>
          </a:xfrm>
          <a:prstGeom prst="line">
            <a:avLst/>
          </a:prstGeom>
          <a:noFill/>
          <a:ln w="22225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607040" y="2103120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899648" y="2039112"/>
            <a:ext cx="117043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Dos flujos reales entran al mismo Kafka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607040" y="3154680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899648" y="3090672"/>
            <a:ext cx="117043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Spark procesa y guarda en PostgreSQL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0607040" y="4206240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899648" y="4142232"/>
            <a:ext cx="117043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Prometheus vigila; Grafana lo muestra todo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Color = responsable · Azul acero: Julmer · Verde azulado: Abdul · Ciruela: Milagros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051560" cy="292608"/>
          </a:xfrm>
          <a:prstGeom prst="roundRect">
            <a:avLst>
              <a:gd name="adj" fmla="val 50000"/>
            </a:avLst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3"/>
                </a:solidFill>
              </a:rPr>
              <a:t>S6 · KAFKA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Julmer</a:t>
            </a:r>
            <a:endParaRPr lang="en-US" sz="11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Eventos empresariales en vivo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9319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892808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237 471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459736"/>
            <a:ext cx="35295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operaciones reales procesadas en ventanas (30 de octubre)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456432"/>
            <a:ext cx="3639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operación ejecutada en Binance es un evento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4187952"/>
            <a:ext cx="3639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Tópicos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market.trades.btcusdt y .solusdt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919472"/>
            <a:ext cx="3639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Contrato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market-trade-v1 versionado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46320" y="1783080"/>
            <a:ext cx="6812280" cy="4145890"/>
          </a:xfrm>
          <a:prstGeom prst="roundRect">
            <a:avLst>
              <a:gd name="adj" fmla="val 2206"/>
            </a:avLst>
          </a:prstGeom>
          <a:solidFill>
            <a:schemeClr val="bg1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pic>
        <p:nvPicPr>
          <p:cNvPr id="17" name="Image 0" descr="Mensajes de operaciones en Kafka U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472" y="1856232"/>
            <a:ext cx="6665976" cy="399958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4846320" y="5983834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Mensajes reales en Kafka UI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485900" cy="292608"/>
          </a:xfrm>
          <a:prstGeom prst="roundRect">
            <a:avLst>
              <a:gd name="adj" fmla="val 50000"/>
            </a:avLst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485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3"/>
                </a:solidFill>
              </a:rPr>
              <a:t>S7 · TELEMETRÍA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Julmer</a:t>
            </a:r>
            <a:endParaRPr lang="en-US" sz="11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Velas como telemetría del mercado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303264" cy="3840480"/>
          </a:xfrm>
          <a:prstGeom prst="roundRect">
            <a:avLst>
              <a:gd name="adj" fmla="val 2381"/>
            </a:avLst>
          </a:prstGeom>
          <a:solidFill>
            <a:schemeClr val="bg1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pic>
        <p:nvPicPr>
          <p:cNvPr id="8" name="Image 0" descr="Mensajes de velas en Kafka U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56232"/>
            <a:ext cx="6156960" cy="3694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678424"/>
            <a:ext cx="6303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Velas de 1 minuto en Kafka UI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23760" y="1783080"/>
            <a:ext cx="44348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24928" y="1892808"/>
            <a:ext cx="4032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61 / 61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7424928" y="2459736"/>
            <a:ext cx="40325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velas de contexto · 0 minutos faltantes · 0 rechazados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223760" y="3429000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516368" y="3364992"/>
            <a:ext cx="4142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Lectura periódica, como un sensor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223760" y="3995928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516368" y="3931920"/>
            <a:ext cx="4142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 mensajes por minuto, datos reales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223760" y="4617720"/>
            <a:ext cx="4434840" cy="896798"/>
          </a:xfrm>
          <a:prstGeom prst="roundRect">
            <a:avLst>
              <a:gd name="adj" fmla="val 10196"/>
            </a:avLst>
          </a:prstGeom>
          <a:solidFill>
            <a:schemeClr val="bg1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pic>
        <p:nvPicPr>
          <p:cNvPr id="18" name="Image 1" descr="Frescura y continuidad por ac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912" y="4690872"/>
            <a:ext cx="4288536" cy="75049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051560" cy="292608"/>
          </a:xfrm>
          <a:prstGeom prst="roundRect">
            <a:avLst>
              <a:gd name="adj" fmla="val 50000"/>
            </a:avLst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3"/>
                </a:solidFill>
              </a:rPr>
              <a:t>S8 · SPARK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Julmer</a:t>
            </a:r>
            <a:endParaRPr lang="en-US" sz="11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Ventanas, watermark y checkpoints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675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1737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Consulta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Ventana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Watermark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Archivo e inferencia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Micro-lote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aplica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Ventana fija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min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min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Ventana deslizante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min, paso 1 min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min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Flujo de operaciones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min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min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206240"/>
            <a:ext cx="6675120" cy="1545336"/>
          </a:xfrm>
          <a:prstGeom prst="roundRect">
            <a:avLst>
              <a:gd name="adj" fmla="val 5917"/>
            </a:avLst>
          </a:prstGeom>
          <a:solidFill>
            <a:schemeClr val="bg1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pic>
        <p:nvPicPr>
          <p:cNvPr id="9" name="Image 0" descr="Ventanas finaliza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279392"/>
            <a:ext cx="6528816" cy="1399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58064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Ventanas finalizadas: cobertura real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635240" y="1783080"/>
            <a:ext cx="4023360" cy="4023360"/>
          </a:xfrm>
          <a:prstGeom prst="roundRect">
            <a:avLst>
              <a:gd name="adj" fmla="val 3182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90956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LO QUE COMPRUEBAN LAS PRUEBAS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909560" y="2560320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02168" y="2496312"/>
            <a:ext cx="3319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Duplicado: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cuenta una vez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909560" y="3200400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202168" y="3136392"/>
            <a:ext cx="3319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Tardío: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se descarta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909560" y="3840480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202168" y="3776472"/>
            <a:ext cx="3319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Reinicio: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continúa desde su checkpoint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7909560" y="4480560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202168" y="4416552"/>
            <a:ext cx="3319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Deduplicación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por event_id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7909560" y="5120640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202168" y="5056632"/>
            <a:ext cx="3319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 consultas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con checkpoint propio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399032" cy="292608"/>
          </a:xfrm>
          <a:prstGeom prst="roundRect">
            <a:avLst>
              <a:gd name="adj" fmla="val 50000"/>
            </a:avLst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3"/>
                </a:solidFill>
              </a:rPr>
              <a:t>S8 · RESULTADO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Julmer</a:t>
            </a:r>
            <a:endParaRPr lang="en-US" sz="11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Del evento al valor de negocio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315200" cy="289438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pic>
        <p:nvPicPr>
          <p:cNvPr id="8" name="Image 0" descr="Flujo neto comprador menos vende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56232"/>
            <a:ext cx="7168896" cy="274807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937760"/>
            <a:ext cx="6102967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pic>
        <p:nvPicPr>
          <p:cNvPr id="10" name="Image 1" descr="Último minuto de operaci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010912"/>
            <a:ext cx="5956663" cy="104241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0" y="2057400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522208" y="1993392"/>
            <a:ext cx="313639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Compras − ventas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por minuto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229600" y="2926080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522208" y="2862072"/>
            <a:ext cx="313639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Muestra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quién domina el mercado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229600" y="3794760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522208" y="3730752"/>
            <a:ext cx="313639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 cae el productor,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recupera por REST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007108" cy="292608"/>
          </a:xfrm>
          <a:prstGeom prst="roundRect">
            <a:avLst>
              <a:gd name="adj" fmla="val 50000"/>
            </a:avLst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2007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3"/>
                </a:solidFill>
              </a:rPr>
              <a:t>MI DIMENSIÓN · JULMER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Julmer</a:t>
            </a:r>
            <a:endParaRPr lang="en-US" sz="11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¿Caída fuerte en los próximos 30 minutos?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498080" cy="3313223"/>
          </a:xfrm>
          <a:prstGeom prst="roundRect">
            <a:avLst>
              <a:gd name="adj" fmla="val 2760"/>
            </a:avLst>
          </a:prstGeom>
          <a:solidFill>
            <a:schemeClr val="bg1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pic>
        <p:nvPicPr>
          <p:cNvPr id="8" name="Image 0" descr="Panel de caída fuer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56232"/>
            <a:ext cx="7351776" cy="316691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151167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Probabilidad de caída a 30 min y realidad posterior en Grafana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366760" y="1783080"/>
            <a:ext cx="3291840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67928" y="18928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0,103 vs 0,033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567928" y="245973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PR-AUC en la prueba 2026: 3 veces la referencia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366760" y="3154680"/>
            <a:ext cx="3291840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67928" y="32644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Empata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8567928" y="383133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 vivo con su referencia (logística calibrada)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366760" y="4526280"/>
            <a:ext cx="3291840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567928" y="46360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14 de 100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8567928" y="520293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alertas aciertan: sirve para priorizar revisión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833372" cy="292608"/>
          </a:xfrm>
          <a:prstGeom prst="roundRect">
            <a:avLst>
              <a:gd name="adj" fmla="val 50000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8333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4"/>
                </a:solidFill>
              </a:rPr>
              <a:t>S9 · OBSERVABILIDAD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Abdul</a:t>
            </a:r>
            <a:endParaRPr lang="en-US" sz="11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Sabemos si el pipeline está sano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40680" cy="2828788"/>
          </a:xfrm>
          <a:prstGeom prst="roundRect">
            <a:avLst>
              <a:gd name="adj" fmla="val 3232"/>
            </a:avLst>
          </a:prstGeom>
          <a:solidFill>
            <a:schemeClr val="bg1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pic>
        <p:nvPicPr>
          <p:cNvPr id="8" name="Image 0" descr="Destinos de Promethe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56232"/>
            <a:ext cx="5294376" cy="26824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466673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Destinos de Prometheus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1783080"/>
            <a:ext cx="5440680" cy="2946441"/>
          </a:xfrm>
          <a:prstGeom prst="roundRect">
            <a:avLst>
              <a:gd name="adj" fmla="val 3103"/>
            </a:avLst>
          </a:prstGeom>
          <a:solidFill>
            <a:schemeClr val="bg1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pic>
        <p:nvPicPr>
          <p:cNvPr id="11" name="Image 1" descr="Reglas de alerta de Promethe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856232"/>
            <a:ext cx="5294376" cy="28001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17920" y="4784385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Reglas de alerta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5166360"/>
            <a:ext cx="21945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49808" y="527608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3 / 3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749808" y="584301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destinos activos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926080" y="5166360"/>
            <a:ext cx="21945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3127248" y="527608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11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3127248" y="5843016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reglas de alerta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17920" y="5184648"/>
            <a:ext cx="146304" cy="14630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510528" y="5120640"/>
            <a:ext cx="5148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Vigila velas y operaciones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217920" y="5550408"/>
            <a:ext cx="146304" cy="14630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510528" y="5486400"/>
            <a:ext cx="5148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Alerta si el streaming se detiene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217920" y="5916168"/>
            <a:ext cx="146304" cy="14630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510528" y="5852160"/>
            <a:ext cx="5148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Alerta si un pronóstico envejece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572768" cy="292608"/>
          </a:xfrm>
          <a:prstGeom prst="roundRect">
            <a:avLst>
              <a:gd name="adj" fmla="val 50000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4"/>
                </a:solidFill>
              </a:rPr>
              <a:t>S9 · CORRELACIÓN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Abdul</a:t>
            </a:r>
            <a:endParaRPr lang="en-US" sz="11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Métricas que se explican entre sí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998464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pic>
        <p:nvPicPr>
          <p:cNvPr id="8" name="Image 0" descr="Duración de micro-lo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56232"/>
            <a:ext cx="5852160" cy="20482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160520"/>
            <a:ext cx="5998464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pic>
        <p:nvPicPr>
          <p:cNvPr id="10" name="Image 1" descr="Avance de Kafka por tópic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233672"/>
            <a:ext cx="5852160" cy="20482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726680" y="18288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7266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845820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 lote dura más de 15 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001000" y="2395728"/>
            <a:ext cx="914" cy="640080"/>
          </a:xfrm>
          <a:prstGeom prst="line">
            <a:avLst/>
          </a:prstGeom>
          <a:noFill/>
          <a:ln w="19050">
            <a:solidFill>
              <a:srgbClr val="B8C0C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26680" y="30632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7266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845820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Crecen los eventos pendientes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001000" y="3630168"/>
            <a:ext cx="914" cy="640080"/>
          </a:xfrm>
          <a:prstGeom prst="line">
            <a:avLst/>
          </a:prstGeom>
          <a:noFill/>
          <a:ln w="19050">
            <a:solidFill>
              <a:srgbClr val="B8C0C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726680" y="42976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72668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8458200" y="4251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Luego envejece la ventana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726680" y="5486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Si solo envejece el productor, la falla está en la ingesta.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38428" cy="292608"/>
          </a:xfrm>
          <a:prstGeom prst="roundRect">
            <a:avLst>
              <a:gd name="adj" fmla="val 50000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384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4"/>
                </a:solidFill>
              </a:rPr>
              <a:t>S9 · COSTOS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Abdul</a:t>
            </a:r>
            <a:endParaRPr lang="en-US" sz="11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65 USD al mes, frente al volumen real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840480" cy="2194560"/>
          </a:xfrm>
          <a:prstGeom prst="roundRect">
            <a:avLst>
              <a:gd name="adj" fmla="val 5833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65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 USD/mes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54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6E4"/>
                </a:solidFill>
              </a:rPr>
              <a:t>Tarifas ilustrativas, no es una factura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8288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4315968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1 153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882896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operaciones por minuto en BTC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4206240"/>
            <a:ext cx="18288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61488" y="4315968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5,9 GB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2761488" y="4882896"/>
            <a:ext cx="1426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7 días en Kafka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83080"/>
          <a:ext cx="690372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920240"/>
                <a:gridCol w="27432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Señal medida</a:t>
                      </a:r>
                      <a:endParaRPr lang="en-US" sz="13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Umbral</a:t>
                      </a:r>
                      <a:endParaRPr lang="en-US" sz="13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Acción</a:t>
                      </a:r>
                      <a:endParaRPr lang="en-US" sz="13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Duración del lote</a:t>
                      </a:r>
                      <a:endParaRPr lang="en-US" sz="13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Más de 15 s</a:t>
                      </a:r>
                      <a:endParaRPr lang="en-US" sz="13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Más núcleos o separar inferencia</a:t>
                      </a:r>
                      <a:endParaRPr lang="en-US" sz="13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Velas pendientes</a:t>
                      </a:r>
                      <a:endParaRPr lang="en-US" sz="13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Más de 100, 2 min</a:t>
                      </a:r>
                      <a:endParaRPr lang="en-US" sz="13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Más particiones</a:t>
                      </a:r>
                      <a:endParaRPr lang="en-US" sz="13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Operaciones pendientes</a:t>
                      </a:r>
                      <a:endParaRPr lang="en-US" sz="13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Más de 5 000, 2 min</a:t>
                      </a:r>
                      <a:endParaRPr lang="en-US" sz="13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Más recursos</a:t>
                      </a:r>
                      <a:endParaRPr lang="en-US" sz="13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Disco de Kafka</a:t>
                      </a:r>
                      <a:endParaRPr lang="en-US" sz="13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Más de 10 GB</a:t>
                      </a:r>
                      <a:endParaRPr lang="en-US" sz="13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Retención de 48 h</a:t>
                      </a:r>
                      <a:endParaRPr lang="en-US" sz="13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Más activos</a:t>
                      </a:r>
                      <a:endParaRPr lang="en-US" sz="13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Más de 6 pares</a:t>
                      </a:r>
                      <a:endParaRPr lang="en-US" sz="13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Clúster Spark</a:t>
                      </a:r>
                      <a:endParaRPr lang="en-US" sz="135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754880" y="4937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Cuándo escalar: cada umbral sale de una métrica que ya medimos.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920240" cy="292608"/>
          </a:xfrm>
          <a:prstGeom prst="roundRect">
            <a:avLst>
              <a:gd name="adj" fmla="val 50000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4"/>
                </a:solidFill>
              </a:rPr>
              <a:t>MI DIMENSIÓN · ABDUL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Abdul</a:t>
            </a:r>
            <a:endParaRPr lang="en-US" sz="11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¿Actividad anómala en los próximos 5 minutos?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498080" cy="3313223"/>
          </a:xfrm>
          <a:prstGeom prst="roundRect">
            <a:avLst>
              <a:gd name="adj" fmla="val 2760"/>
            </a:avLst>
          </a:prstGeom>
          <a:solidFill>
            <a:schemeClr val="bg1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pic>
        <p:nvPicPr>
          <p:cNvPr id="8" name="Image 0" descr="Panel de actividad anóma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56232"/>
            <a:ext cx="7351776" cy="316691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151167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Probabilidad de actividad anómala a 5 min en Grafana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366760" y="1783080"/>
            <a:ext cx="3291840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67928" y="18928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0,660 vs 0,072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567928" y="245973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PR-AUC en la prueba 2026: 9 veces la referencia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366760" y="3154680"/>
            <a:ext cx="3291840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67928" y="32644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Por activo y hora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8567928" y="383133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logística calibrada contra el P95 de su hora UTC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366760" y="4526280"/>
            <a:ext cx="3291840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567928" y="46360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Aún por debajo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8567928" y="520293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 vivo: muestra corta, primera señal a vigilar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572768" cy="292608"/>
          </a:xfrm>
          <a:prstGeom prst="roundRect">
            <a:avLst>
              <a:gd name="adj" fmla="val 50000"/>
            </a:avLst>
          </a:prstGeom>
          <a:solidFill>
            <a:schemeClr val="accent5">
              <a:alpha val="14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5"/>
                </a:solidFill>
              </a:rPr>
              <a:t>S10 · INFERENCIA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Franck</a:t>
            </a:r>
            <a:endParaRPr lang="en-US" sz="11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Los modelos de U1, ahora en vivo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606040" cy="3017520"/>
          </a:xfrm>
          <a:prstGeom prst="roundRect">
            <a:avLst>
              <a:gd name="adj" fmla="val 4912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7744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77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9184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Cierra un minuto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Llega la vela por Kafka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2103120"/>
            <a:ext cx="2606040" cy="3017520"/>
          </a:xfrm>
          <a:prstGeom prst="roundRect">
            <a:avLst>
              <a:gd name="adj" fmla="val 4912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237744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0" y="2377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29184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 calculan variables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con velas ya cerradas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2606040" cy="3017520"/>
          </a:xfrm>
          <a:prstGeom prst="roundRect">
            <a:avLst>
              <a:gd name="adj" fmla="val 491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237744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2377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29184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 emiten 7 pronósticos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FD6E4"/>
                </a:solidFill>
              </a:rPr>
              <a:t>4 modelos sobre las últimas 61 velas; se guardan en PostgreSQL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2606040" cy="3017520"/>
          </a:xfrm>
          <a:prstGeom prst="roundRect">
            <a:avLst>
              <a:gd name="adj" fmla="val 4912"/>
            </a:avLst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0" y="237744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377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29184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Madura el horizonte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compara con lo que ocurrió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4864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Cada minuto: 4 modelos, 7 pronósticos. Ninguna variable usa datos del futuro.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007108" cy="292608"/>
          </a:xfrm>
          <a:prstGeom prst="roundRect">
            <a:avLst>
              <a:gd name="adj" fmla="val 50000"/>
            </a:avLst>
          </a:prstGeom>
          <a:solidFill>
            <a:schemeClr val="accent5">
              <a:alpha val="14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2007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5"/>
                </a:solidFill>
              </a:rPr>
              <a:t>MI DIMENSIÓN · FRANCK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Franck</a:t>
            </a:r>
            <a:endParaRPr lang="en-US" sz="11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¿Qué volatilidad habrá en 15 minutos?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498080" cy="3313223"/>
          </a:xfrm>
          <a:prstGeom prst="roundRect">
            <a:avLst>
              <a:gd name="adj" fmla="val 2760"/>
            </a:avLst>
          </a:prstGeom>
          <a:solidFill>
            <a:schemeClr val="bg1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pic>
        <p:nvPicPr>
          <p:cNvPr id="8" name="Image 0" descr="Panel de volatil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56232"/>
            <a:ext cx="7351776" cy="316691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151167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Observada (continua), pronóstico (punteada) y realidad futura (puntos)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366760" y="1783080"/>
            <a:ext cx="3291840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67928" y="18928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Random Forest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567928" y="245973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para BTC y SOL; en U1 ganó entre 4 opciones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366760" y="3154680"/>
            <a:ext cx="3291840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67928" y="32644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Intensidad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8567928" y="383133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mide cuánto se moverá, no hacia dónde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366760" y="4526280"/>
            <a:ext cx="3291840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567928" y="46360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Límite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8567928" y="520293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 queda corto en los picos bruscos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051560" cy="292608"/>
          </a:xfrm>
          <a:prstGeom prst="roundRect">
            <a:avLst>
              <a:gd name="adj" fmla="val 50000"/>
            </a:avLst>
          </a:prstGeom>
          <a:solidFill>
            <a:schemeClr val="accent5">
              <a:alpha val="14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5"/>
                </a:solidFill>
              </a:rPr>
              <a:t>VALIDACIÓN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Franck</a:t>
            </a:r>
            <a:endParaRPr lang="en-US" sz="11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gana a su referencia</a:t>
            </a:r>
            <a:endParaRPr lang="en-US" sz="3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691640"/>
          <a:ext cx="65836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589520" y="2057400"/>
            <a:ext cx="146304" cy="14630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82128" y="1993392"/>
            <a:ext cx="377647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Prueba 2026: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RMSE 0,129 frente a 0,151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589520" y="2834640"/>
            <a:ext cx="146304" cy="14630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82128" y="2770632"/>
            <a:ext cx="377647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 vivo: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menor error en ambos activos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589520" y="3611880"/>
            <a:ext cx="146304" cy="14630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82128" y="3547872"/>
            <a:ext cx="377647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Muestra corta,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de un solo día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535065" y="4663440"/>
            <a:ext cx="713711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pic>
        <p:nvPicPr>
          <p:cNvPr id="15" name="Image 0" descr="Evaluación en v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217" y="4736592"/>
            <a:ext cx="6990806" cy="15453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138428" cy="292608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384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2"/>
                </a:solidFill>
              </a:rPr>
              <a:t>S11 · BI/ML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Luz Milagros</a:t>
            </a:r>
            <a:endParaRPr lang="en-US" sz="11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KPIs y predicción en la misma vista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7227418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pic>
        <p:nvPicPr>
          <p:cNvPr id="8" name="Image 0" descr="Tablero CryptoPulse en estado LIS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10512"/>
            <a:ext cx="7081114" cy="44256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783080"/>
            <a:ext cx="32918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67928" y="18928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7 / 7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567928" y="2459736"/>
            <a:ext cx="2889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pronósticos vigentes cada minuto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366760" y="3337560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59368" y="3273552"/>
            <a:ext cx="29992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Estado, señales y pronósticos juntos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366760" y="4160520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659368" y="4096512"/>
            <a:ext cx="29992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Riesgo actual como % de su umbral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366760" y="4983480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59368" y="4919472"/>
            <a:ext cx="29992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analista ve qué pasa y qué se espera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528316" cy="292608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2528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2"/>
                </a:solidFill>
              </a:rPr>
              <a:t>MI DIMENSIÓN · LUZ MILAGROS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Luz Milagros</a:t>
            </a:r>
            <a:endParaRPr lang="en-US" sz="11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¿Cuánto se separarán SOL y BTC?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498080" cy="3313223"/>
          </a:xfrm>
          <a:prstGeom prst="roundRect">
            <a:avLst>
              <a:gd name="adj" fmla="val 2760"/>
            </a:avLst>
          </a:prstGeom>
          <a:solidFill>
            <a:schemeClr val="bg1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pic>
        <p:nvPicPr>
          <p:cNvPr id="8" name="Image 0" descr="Panel de separación BTC–S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56232"/>
            <a:ext cx="7351776" cy="316691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151167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Tamaño |SOL − BTC| a 15 minutos en Grafana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366760" y="1783080"/>
            <a:ext cx="3291840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67928" y="18928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0,149 vs 0,198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567928" y="245973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RMSE en la prueba 2026: 25 % menos error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366760" y="3154680"/>
            <a:ext cx="3291840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67928" y="32644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Supera por poco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8567928" y="383133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su referencia en vivo (Ridge, a 15 min)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366760" y="4526280"/>
            <a:ext cx="3291840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567928" y="46360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Tamaño, no dirección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8567928" y="520293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 dirección no mejoró; se reformuló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659636" cy="292608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6596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2"/>
                </a:solidFill>
              </a:rPr>
              <a:t>S12 · INTEGRACIÓN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Luz Milagros</a:t>
            </a:r>
            <a:endParaRPr lang="en-US" sz="11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Todo se comprueba con un comando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4008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039112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3F8F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039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PASS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89280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Integración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Contrato, duplicados, tardíos y checkpoints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64008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182112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3F8F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182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PASS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03580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Verificación final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Sesiones S03 a S12 contra el sistema vivo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64008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325112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3F8F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325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PASS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417880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Recuperación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Caída y vuelta de ambos productores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315200" y="1783080"/>
            <a:ext cx="4343400" cy="1945059"/>
          </a:xfrm>
          <a:prstGeom prst="roundRect">
            <a:avLst>
              <a:gd name="adj" fmla="val 4701"/>
            </a:avLst>
          </a:prstGeom>
          <a:solidFill>
            <a:schemeClr val="bg1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127000" dist="38100" dir="5400000">
              <a:srgbClr val="14213D">
                <a:alpha val="16000"/>
              </a:srgbClr>
            </a:outerShdw>
          </a:effectLst>
        </p:spPr>
      </p:sp>
      <p:pic>
        <p:nvPicPr>
          <p:cNvPr id="20" name="Image 0" descr="Estado integral del produc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2" y="1856232"/>
            <a:ext cx="4197096" cy="1798755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315200" y="4251960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607808" y="4187952"/>
            <a:ext cx="4050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Pipeline completo en un solo sistema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315200" y="481888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607808" y="4754880"/>
            <a:ext cx="4050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Caídas detectadas y recuperadas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315200" y="5385816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607808" y="5321808"/>
            <a:ext cx="4050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Instalación con scripts y CI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1051560" cy="292608"/>
          </a:xfrm>
          <a:prstGeom prst="roundRect">
            <a:avLst>
              <a:gd name="adj" fmla="val 50000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chemeClr val="accent2"/>
                </a:solidFill>
              </a:rPr>
              <a:t>RÚBRICA U2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646920" y="411480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93808" y="3291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Expone: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Luz Milagros</a:t>
            </a:r>
            <a:endParaRPr lang="en-US" sz="11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Evidencia para cada criterio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4068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7830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Eventos empresariales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78308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12 %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89120" y="19659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Julmer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544068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6974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IoT / sensores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9748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10 %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89120" y="288036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0" y="28803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Julmer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544068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6118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3. Spark Streaming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361188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14 %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89120" y="379476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89120" y="3794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Julmer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544068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5262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4. Observabilidad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452628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12 %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389120" y="470916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389120" y="47091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Abdul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1783080"/>
            <a:ext cx="544068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0" y="17830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5. Costos y escalado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178308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8 %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012680" y="196596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12680" y="19659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Abdul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2697480"/>
            <a:ext cx="544068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0" y="26974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6. Salidas BI/ML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098280" y="269748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12 %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0012680" y="288036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012680" y="28803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Milagros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72200" y="3611880"/>
            <a:ext cx="544068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0" y="36118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7. Series de tiempo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9098280" y="361188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12 %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0012680" y="379476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012680" y="3794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Los cuatro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172200" y="4526280"/>
            <a:ext cx="5440680" cy="749808"/>
          </a:xfrm>
          <a:prstGeom prst="roundRect">
            <a:avLst>
              <a:gd name="adj" fmla="val 12195"/>
            </a:avLst>
          </a:prstGeom>
          <a:solidFill>
            <a:schemeClr val="bg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00800" y="45262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8. Sustentación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9098280" y="4526280"/>
            <a:ext cx="731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20 %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0012680" y="470916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012680" y="47091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Cada integrante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Criterios 1 a 7 con evidencia en vivo · el criterio 8 se demuestra hoy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áfico de Bitcoin en pantal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82000"/>
            </a:scheme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LO QUE DEJAMOS CLARO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05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Un pipeline real que anticipa el riesgo y mide su propio error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514600"/>
            <a:ext cx="3474720" cy="1600200"/>
          </a:xfrm>
          <a:prstGeom prst="roundRect">
            <a:avLst>
              <a:gd name="adj" fmla="val 8000"/>
            </a:avLst>
          </a:prstGeom>
          <a:solidFill>
            <a:schemeClr val="tx2">
              <a:alpha val="85000"/>
            </a:schemeClr>
          </a:solidFill>
          <a:ln w="9525">
            <a:solidFill>
              <a:srgbClr val="3A476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697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 de 4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015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9F0"/>
                </a:solidFill>
              </a:rPr>
              <a:t>modelos superan su referencia en la prueba 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2514600"/>
            <a:ext cx="3474720" cy="1600200"/>
          </a:xfrm>
          <a:prstGeom prst="roundRect">
            <a:avLst>
              <a:gd name="adj" fmla="val 8000"/>
            </a:avLst>
          </a:prstGeom>
          <a:solidFill>
            <a:schemeClr val="tx2">
              <a:alpha val="85000"/>
            </a:schemeClr>
          </a:solidFill>
          <a:ln w="9525">
            <a:solidFill>
              <a:srgbClr val="3A476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7720" y="2697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7 / 7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34015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9F0"/>
                </a:solidFill>
              </a:rPr>
              <a:t>pronósticos vigentes en un pipeline real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46720" y="2514600"/>
            <a:ext cx="3474720" cy="1600200"/>
          </a:xfrm>
          <a:prstGeom prst="roundRect">
            <a:avLst>
              <a:gd name="adj" fmla="val 8000"/>
            </a:avLst>
          </a:prstGeom>
          <a:solidFill>
            <a:schemeClr val="tx2">
              <a:alpha val="85000"/>
            </a:schemeClr>
          </a:solidFill>
          <a:ln w="9525">
            <a:solidFill>
              <a:srgbClr val="3A476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1040" y="2697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Pocas horas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34015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9F0"/>
                </a:solidFill>
              </a:rPr>
              <a:t>en vivo: una muestra corta que seguimos midiendo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434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D6E4"/>
                </a:solidFill>
              </a:rPr>
              <a:t>En vivo, volatilidad supera con claridad a su referencia y separación por poco; caída empata y actividad queda por debajo en BTC. Por eso cada pronóstico se sigue evaluando.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440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Gracias. ¿Preguntas?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FD6E4"/>
                </a:solidFill>
              </a:rPr>
              <a:t>Foto: Behnam Norouzi · Unsplash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yptoPulse Sobrio">
  <a:themeElements>
    <a:clrScheme name="CryptoPulse Sobrio">
      <a:dk1>
        <a:srgbClr val="1F2633"/>
      </a:dk1>
      <a:lt1>
        <a:srgbClr val="FFFFFF"/>
      </a:lt1>
      <a:dk2>
        <a:srgbClr val="14213D"/>
      </a:dk2>
      <a:lt2>
        <a:srgbClr val="F1F3F7"/>
      </a:lt2>
      <a:accent1>
        <a:srgbClr val="B8893B"/>
      </a:accent1>
      <a:accent2>
        <a:srgbClr val="7A4E6E"/>
      </a:accent2>
      <a:accent3>
        <a:srgbClr val="2F5D8A"/>
      </a:accent3>
      <a:accent4>
        <a:srgbClr val="2E7D73"/>
      </a:accent4>
      <a:accent5>
        <a:srgbClr val="A0662E"/>
      </a:accent5>
      <a:accent6>
        <a:srgbClr val="6B7280"/>
      </a:accent6>
      <a:hlink>
        <a:srgbClr val="2F5D8A"/>
      </a:hlink>
      <a:folHlink>
        <a:srgbClr val="7A4E6E"/>
      </a:folHlink>
    </a:clrScheme>
    <a:fontScheme name="CryptoPulse Sobri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CryptoPulse · Producto de Unidad 2</dc:title>
  <dc:subject>PptxGenJS Presentation</dc:subject>
  <dc:creator>Grupo 3 · Big Data UPeU 2026-2</dc:creator>
  <cp:lastModifiedBy>Grupo 3 · Big Data UPeU 2026-2</cp:lastModifiedBy>
  <cp:revision>1</cp:revision>
  <dcterms:created xsi:type="dcterms:W3CDTF">2026-10-30T19:52:10Z</dcterms:created>
  <dcterms:modified xsi:type="dcterms:W3CDTF">2026-10-30T19:52:10Z</dcterms:modified>
</cp:coreProperties>
</file>